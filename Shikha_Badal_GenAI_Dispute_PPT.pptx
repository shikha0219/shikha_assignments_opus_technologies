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5" r:id="rId10"/>
    <p:sldId id="265" r:id="rId11"/>
    <p:sldId id="277" r:id="rId12"/>
    <p:sldId id="267" r:id="rId13"/>
    <p:sldId id="279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D9DAB-1924-0540-3E11-4C115A7B300F}" v="758" dt="2026-04-01T10:25:25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42145-44B9-4AE1-913D-162926B24187}" type="datetimeFigureOut"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05585-C3EB-47BD-9651-DAF710332D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1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D651B-93DB-95EB-837B-CA74005D5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B0859-043E-33C6-9D2B-FC8D9AF9E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281FA-E8AA-AACF-EB46-7E3B64E64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BAA66-5FDC-B680-3C1B-B4B4D9B6D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43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2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165" y="1806906"/>
            <a:ext cx="8857444" cy="922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GenAI Payment Dispute Resolution</a:t>
            </a:r>
            <a:endParaRPr lang="en-US" sz="4400" dirty="0">
              <a:latin typeface="Times New Roman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588376"/>
            <a:ext cx="8229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Team 3: Shikha &amp; Badal</a:t>
            </a:r>
          </a:p>
          <a:p>
            <a:r>
              <a:rPr lang="en-US" sz="24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Data &amp; AI</a:t>
            </a:r>
            <a:endParaRPr lang="en-US" sz="24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926812"/>
            <a:ext cx="9144000" cy="216688"/>
          </a:xfrm>
          <a:prstGeom prst="rect">
            <a:avLst/>
          </a:prstGeom>
          <a:solidFill>
            <a:srgbClr val="00A8E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Problem Statement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955280" cy="3931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endParaRPr lang="en-US" sz="1600" dirty="0">
              <a:solidFill>
                <a:srgbClr val="1E276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BA627B-15E7-1C48-9BA0-E7E2F438EE8E}"/>
              </a:ext>
            </a:extLst>
          </p:cNvPr>
          <p:cNvSpPr/>
          <p:nvPr/>
        </p:nvSpPr>
        <p:spPr>
          <a:xfrm>
            <a:off x="729266" y="2368103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Payment processors handle thousands of disputes daily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EC19F5-4371-C214-6304-B93E7F5DCB27}"/>
              </a:ext>
            </a:extLst>
          </p:cNvPr>
          <p:cNvSpPr/>
          <p:nvPr/>
        </p:nvSpPr>
        <p:spPr>
          <a:xfrm>
            <a:off x="729266" y="283077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Manual review is time-consuming and labor-intensive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E1DD05-B9FD-67B0-D08B-0B6E126D8116}"/>
              </a:ext>
            </a:extLst>
          </p:cNvPr>
          <p:cNvSpPr/>
          <p:nvPr/>
        </p:nvSpPr>
        <p:spPr>
          <a:xfrm>
            <a:off x="729266" y="3285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Inconsistent decision-making across dispute handlers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30E4A6F-0454-062F-F3EA-5BB6BD979A3C}"/>
              </a:ext>
            </a:extLst>
          </p:cNvPr>
          <p:cNvSpPr/>
          <p:nvPr/>
        </p:nvSpPr>
        <p:spPr>
          <a:xfrm>
            <a:off x="729266" y="374807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Average resolution time: 7-14 days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4CAEB2-92AE-0136-566D-C989E53E3A4D}"/>
              </a:ext>
            </a:extLst>
          </p:cNvPr>
          <p:cNvSpPr/>
          <p:nvPr/>
        </p:nvSpPr>
        <p:spPr>
          <a:xfrm>
            <a:off x="729266" y="4202699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High operational costs due to manual workload</a:t>
            </a:r>
            <a:endParaRPr lang="en-US" sz="1400" dirty="0">
              <a:latin typeface="Times New Roman"/>
              <a:cs typeface="Times New Roman"/>
            </a:endParaRPr>
          </a:p>
        </p:txBody>
      </p:sp>
      <p:pic>
        <p:nvPicPr>
          <p:cNvPr id="12" name="Picture 11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94E4A64A-B7E3-A146-3470-329A5E411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12" y="1009113"/>
            <a:ext cx="1536611" cy="1153196"/>
          </a:xfrm>
          <a:prstGeom prst="rect">
            <a:avLst/>
          </a:prstGeom>
        </p:spPr>
      </p:pic>
      <p:pic>
        <p:nvPicPr>
          <p:cNvPr id="13" name="Picture 12" descr="A white sign with blue text&#10;&#10;AI-generated content may be incorrect.">
            <a:extLst>
              <a:ext uri="{FF2B5EF4-FFF2-40B4-BE49-F238E27FC236}">
                <a16:creationId xmlns:a16="http://schemas.microsoft.com/office/drawing/2014/main" id="{23106BC4-FD38-D091-55FD-CD59214CC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490" y="1002875"/>
            <a:ext cx="1544660" cy="1181771"/>
          </a:xfrm>
          <a:prstGeom prst="rect">
            <a:avLst/>
          </a:prstGeom>
        </p:spPr>
      </p:pic>
      <p:pic>
        <p:nvPicPr>
          <p:cNvPr id="14" name="Picture 13" descr="A white rectangular sign with blue text&#10;&#10;AI-generated content may be incorrect.">
            <a:extLst>
              <a:ext uri="{FF2B5EF4-FFF2-40B4-BE49-F238E27FC236}">
                <a16:creationId xmlns:a16="http://schemas.microsoft.com/office/drawing/2014/main" id="{FF31AFFC-A8B8-E151-6B3A-5DC6676E1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119" y="1002875"/>
            <a:ext cx="1535001" cy="1197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Solution Overview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955280" cy="3931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endParaRPr lang="en-US" sz="1600" dirty="0">
              <a:solidFill>
                <a:srgbClr val="1E2761"/>
              </a:solidFill>
              <a:ea typeface="Calibri"/>
              <a:cs typeface="Calibri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010AC67-5171-E1C9-B65B-BBE6899EE83B}"/>
              </a:ext>
            </a:extLst>
          </p:cNvPr>
          <p:cNvSpPr/>
          <p:nvPr/>
        </p:nvSpPr>
        <p:spPr>
          <a:xfrm>
            <a:off x="566866" y="100244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Automated analysis of complaint descriptions using Natural Language Processing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1531A50-1760-9F91-E4DF-E4C173DB5F94}"/>
              </a:ext>
            </a:extLst>
          </p:cNvPr>
          <p:cNvSpPr/>
          <p:nvPr/>
        </p:nvSpPr>
        <p:spPr>
          <a:xfrm>
            <a:off x="566865" y="1543977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>
                <a:solidFill>
                  <a:srgbClr val="2C3E50"/>
                </a:solidFill>
                <a:latin typeface="Times New Roman"/>
                <a:ea typeface="Calibri"/>
                <a:cs typeface="Times New Roman"/>
              </a:rPr>
              <a:t>• Intelligent fraud risk detection with Machine Learning models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F8FABD4-E61A-2D99-3D72-A82BA7F65EA2}"/>
              </a:ext>
            </a:extLst>
          </p:cNvPr>
          <p:cNvSpPr/>
          <p:nvPr/>
        </p:nvSpPr>
        <p:spPr>
          <a:xfrm>
            <a:off x="566866" y="200148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Generative AI-powered investigation summaries and recommendations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9C02497-EF08-2221-2C44-AC0F392E1BC5}"/>
              </a:ext>
            </a:extLst>
          </p:cNvPr>
          <p:cNvSpPr/>
          <p:nvPr/>
        </p:nvSpPr>
        <p:spPr>
          <a:xfrm>
            <a:off x="569337" y="2571133"/>
            <a:ext cx="79552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latin typeface="Times New Roman"/>
                <a:ea typeface="Calibri"/>
                <a:cs typeface="Times New Roman"/>
              </a:rPr>
              <a:t>Key Benefits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E47C0D1-F6D6-284B-08D5-B5CFA9E35770}"/>
              </a:ext>
            </a:extLst>
          </p:cNvPr>
          <p:cNvSpPr/>
          <p:nvPr/>
        </p:nvSpPr>
        <p:spPr>
          <a:xfrm>
            <a:off x="566866" y="3027097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Reduce resolution time from days to minutes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259779A-3AB2-5A8B-4119-1D6F6C5F6EDA}"/>
              </a:ext>
            </a:extLst>
          </p:cNvPr>
          <p:cNvSpPr/>
          <p:nvPr/>
        </p:nvSpPr>
        <p:spPr>
          <a:xfrm>
            <a:off x="566866" y="35686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Improve fraud detection consistency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6D111B2-2B95-48D5-83E4-B3D7EA23EC7C}"/>
              </a:ext>
            </a:extLst>
          </p:cNvPr>
          <p:cNvSpPr/>
          <p:nvPr/>
        </p:nvSpPr>
        <p:spPr>
          <a:xfrm>
            <a:off x="566866" y="4125613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Lower operational costs through automation</a:t>
            </a:r>
            <a:endParaRPr lang="en-US"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614" y="0"/>
            <a:ext cx="9105386" cy="6156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Text 2"/>
          <p:cNvSpPr/>
          <p:nvPr/>
        </p:nvSpPr>
        <p:spPr>
          <a:xfrm>
            <a:off x="503537" y="113992"/>
            <a:ext cx="7920682" cy="3876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System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Architecture</a:t>
            </a:r>
            <a:endParaRPr lang="en-US" sz="3600" dirty="0">
              <a:latin typeface="Calibri"/>
              <a:ea typeface="Calibri"/>
              <a:cs typeface="Calibri"/>
            </a:endParaRPr>
          </a:p>
        </p:txBody>
      </p:sp>
      <p:pic>
        <p:nvPicPr>
          <p:cNvPr id="23" name="Picture 22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300B24FE-B341-0094-E7DB-5AAFBE33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29" y="625561"/>
            <a:ext cx="6657838" cy="45102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Technology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Stack</a:t>
            </a:r>
            <a:endParaRPr lang="en-US" sz="36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955280" cy="3931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Python: Core programming language for all components</a:t>
            </a:r>
            <a:endParaRPr lang="en-US" sz="1600">
              <a:latin typeface="Times New Roman"/>
              <a:cs typeface="Times New Roman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 err="1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Streamlit</a:t>
            </a:r>
            <a:r>
              <a:rPr lang="en-US" sz="1600" dirty="0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: Interactive web interface for agent dashboard</a:t>
            </a:r>
            <a:endParaRPr lang="en-US" sz="1600">
              <a:latin typeface="Times New Roman"/>
              <a:cs typeface="Times New Roman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Pandas &amp; NumPy: Data processing and numerical computation</a:t>
            </a:r>
            <a:endParaRPr lang="en-US" sz="1600">
              <a:latin typeface="Times New Roman"/>
              <a:cs typeface="Times New Roman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 err="1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spaCy</a:t>
            </a:r>
            <a:r>
              <a:rPr lang="en-US" sz="1600" dirty="0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: Natural Language Processing (NLP) for text analysis</a:t>
            </a:r>
            <a:endParaRPr lang="en-US" sz="1600">
              <a:latin typeface="Times New Roman"/>
              <a:cs typeface="Times New Roman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Scikit-learn: Machine learning models for classification and fraud detection</a:t>
            </a:r>
            <a:endParaRPr lang="en-US" sz="1600">
              <a:latin typeface="Times New Roman"/>
              <a:cs typeface="Times New Roman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 err="1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OpenRouter</a:t>
            </a:r>
            <a:r>
              <a:rPr lang="en-US" sz="1600" dirty="0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 LLM: Advanced language model for investigation summaries</a:t>
            </a:r>
            <a:endParaRPr lang="en-US" sz="1600">
              <a:latin typeface="Times New Roman"/>
              <a:cs typeface="Times New Roman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SQLite: Lightweight database for dispute records and case management</a:t>
            </a:r>
            <a:endParaRPr lang="en-US"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Data Overview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418865" y="869606"/>
            <a:ext cx="2872943" cy="189676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</p:sp>
      <p:sp>
        <p:nvSpPr>
          <p:cNvPr id="6" name="Text 4"/>
          <p:cNvSpPr/>
          <p:nvPr/>
        </p:nvSpPr>
        <p:spPr>
          <a:xfrm>
            <a:off x="1596493" y="1191500"/>
            <a:ext cx="22860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10,000</a:t>
            </a:r>
            <a:endParaRPr lang="en-US" sz="3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12338" y="1924255"/>
            <a:ext cx="22860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5F5"/>
                </a:solidFill>
                <a:latin typeface="Times New Roman"/>
                <a:ea typeface="Calibri"/>
                <a:cs typeface="Times New Roman"/>
              </a:rPr>
              <a:t> Dispute Records</a:t>
            </a:r>
            <a:endParaRPr lang="en-US" sz="20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911194" y="869607"/>
            <a:ext cx="2633532" cy="1896761"/>
          </a:xfrm>
          <a:prstGeom prst="rect">
            <a:avLst/>
          </a:prstGeom>
          <a:solidFill>
            <a:srgbClr val="1565C0"/>
          </a:solidFill>
          <a:ln>
            <a:solidFill>
              <a:srgbClr val="0070C0"/>
            </a:solidFill>
          </a:ln>
        </p:spPr>
      </p:sp>
      <p:sp>
        <p:nvSpPr>
          <p:cNvPr id="9" name="Text 7"/>
          <p:cNvSpPr/>
          <p:nvPr/>
        </p:nvSpPr>
        <p:spPr>
          <a:xfrm>
            <a:off x="4911192" y="11915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9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19315" y="1924255"/>
            <a:ext cx="22860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5F5"/>
                </a:solidFill>
                <a:latin typeface="Times New Roman"/>
                <a:ea typeface="Calibri"/>
                <a:cs typeface="Times New Roman"/>
              </a:rPr>
              <a:t>Dispute Categories</a:t>
            </a:r>
            <a:endParaRPr lang="en-US" sz="20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795528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buSzPct val="100000"/>
              <a:buChar char="•"/>
            </a:pPr>
            <a:endParaRPr lang="en-US" sz="1400" dirty="0">
              <a:solidFill>
                <a:srgbClr val="1E2761"/>
              </a:solidFill>
              <a:ea typeface="Calibri"/>
              <a:cs typeface="Calibri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103E3061-D5DC-4E45-1DAF-1579885F9B2D}"/>
              </a:ext>
            </a:extLst>
          </p:cNvPr>
          <p:cNvSpPr/>
          <p:nvPr/>
        </p:nvSpPr>
        <p:spPr>
          <a:xfrm>
            <a:off x="1418865" y="3016594"/>
            <a:ext cx="2880666" cy="189676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0D214C-88EC-0129-4779-FA486B91DC58}"/>
              </a:ext>
            </a:extLst>
          </p:cNvPr>
          <p:cNvSpPr txBox="1"/>
          <p:nvPr/>
        </p:nvSpPr>
        <p:spPr>
          <a:xfrm>
            <a:off x="1729947" y="3560291"/>
            <a:ext cx="227055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buFont typeface=""/>
              <a:buChar char="•"/>
            </a:pPr>
            <a:r>
              <a:rPr lang="en-US" sz="1400" b="1" baseline="0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Transaction ID ​</a:t>
            </a:r>
            <a:r>
              <a:rPr lang="en-US" sz="1400" b="1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​</a:t>
            </a:r>
          </a:p>
          <a:p>
            <a:pPr marL="342900" lvl="0" indent="-342900" rtl="0">
              <a:buFont typeface=""/>
              <a:buChar char="•"/>
            </a:pPr>
            <a:r>
              <a:rPr lang="en-US" sz="1400" b="1" baseline="0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Customer ID</a:t>
            </a:r>
            <a:r>
              <a:rPr lang="en-US" sz="1400" b="1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​</a:t>
            </a:r>
          </a:p>
          <a:p>
            <a:pPr marL="342900" lvl="0" indent="-342900" rtl="0">
              <a:buFont typeface=""/>
              <a:buChar char="•"/>
            </a:pPr>
            <a:r>
              <a:rPr lang="en-US" sz="1400" b="1" baseline="0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Amount</a:t>
            </a:r>
            <a:r>
              <a:rPr lang="en-US" sz="1400" b="1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​</a:t>
            </a:r>
          </a:p>
          <a:p>
            <a:pPr marL="342900" lvl="0" indent="-342900" rtl="0">
              <a:buFont typeface=""/>
              <a:buChar char="•"/>
            </a:pPr>
            <a:r>
              <a:rPr lang="en-US" sz="1400" b="1" baseline="0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Transaction Date </a:t>
            </a:r>
            <a:r>
              <a:rPr lang="en-US" sz="1400" b="1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​</a:t>
            </a:r>
          </a:p>
          <a:p>
            <a:pPr marL="342900" lvl="0" indent="-342900" rtl="0">
              <a:buFont typeface=""/>
              <a:buChar char="•"/>
            </a:pPr>
            <a:r>
              <a:rPr lang="en-US" sz="1400" b="1" baseline="0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Dispute </a:t>
            </a:r>
            <a:r>
              <a:rPr lang="en-US" sz="1400" b="1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​</a:t>
            </a:r>
          </a:p>
          <a:p>
            <a:pPr marL="342900" lvl="0" indent="-342900" rtl="0">
              <a:buFont typeface=""/>
              <a:buChar char="•"/>
            </a:pPr>
            <a:r>
              <a:rPr lang="en-US" sz="1400" b="1" baseline="0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Dispute Category</a:t>
            </a:r>
            <a:r>
              <a:rPr lang="en-US" sz="1400" b="1">
                <a:solidFill>
                  <a:schemeClr val="bg1"/>
                </a:solidFill>
                <a:latin typeface="Times New Roman"/>
                <a:ea typeface="Arial"/>
                <a:cs typeface="Times New Roman"/>
              </a:rPr>
              <a:t>​</a:t>
            </a:r>
          </a:p>
          <a:p>
            <a:pPr algn="ctr" rtl="0"/>
            <a:r>
              <a:rPr lang="en-US" sz="1400" b="1">
                <a:solidFill>
                  <a:schemeClr val="bg1"/>
                </a:solidFill>
                <a:latin typeface="Times New Roman"/>
                <a:ea typeface="Segoe UI"/>
                <a:cs typeface="Times New Roman"/>
              </a:rPr>
              <a:t>​</a:t>
            </a:r>
          </a:p>
          <a:p>
            <a:pPr algn="ctr"/>
            <a:endParaRPr lang="en-US" sz="1400" b="1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09CC6C13-2C76-30B6-E9C3-BBEF2BB470FC}"/>
              </a:ext>
            </a:extLst>
          </p:cNvPr>
          <p:cNvSpPr/>
          <p:nvPr/>
        </p:nvSpPr>
        <p:spPr>
          <a:xfrm>
            <a:off x="4925092" y="3016591"/>
            <a:ext cx="2656702" cy="189676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6A85C8-759A-C7EC-B8CF-58E781366884}"/>
              </a:ext>
            </a:extLst>
          </p:cNvPr>
          <p:cNvSpPr txBox="1"/>
          <p:nvPr/>
        </p:nvSpPr>
        <p:spPr>
          <a:xfrm>
            <a:off x="5599155" y="3467616"/>
            <a:ext cx="159865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baseline="0">
                <a:solidFill>
                  <a:schemeClr val="bg1"/>
                </a:solidFill>
                <a:latin typeface="Times New Roman"/>
                <a:cs typeface="Times New Roman"/>
              </a:rPr>
              <a:t>2023 </a:t>
            </a:r>
            <a:endParaRPr lang="en-US" sz="36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endParaRPr lang="en-US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01448E1-C2ED-2801-282D-C684F6F4CB9E}"/>
              </a:ext>
            </a:extLst>
          </p:cNvPr>
          <p:cNvSpPr/>
          <p:nvPr/>
        </p:nvSpPr>
        <p:spPr>
          <a:xfrm>
            <a:off x="1550155" y="3013194"/>
            <a:ext cx="2386398" cy="5498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rgbClr val="F5F5F5"/>
                </a:solidFill>
                <a:latin typeface="Times New Roman"/>
                <a:ea typeface="Calibri"/>
                <a:cs typeface="Times New Roman"/>
              </a:rPr>
              <a:t> Datas</a:t>
            </a:r>
            <a:r>
              <a:rPr lang="en-US" sz="2000" b="1">
                <a:solidFill>
                  <a:srgbClr val="F5F5F5"/>
                </a:solidFill>
                <a:latin typeface="Times New Roman"/>
                <a:ea typeface="Calibri"/>
                <a:cs typeface="Times New Roman"/>
              </a:rPr>
              <a:t>et Columns</a:t>
            </a:r>
            <a:endParaRPr lang="en-US" sz="20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291D83-3673-73F1-F932-A8669ED05B7C}"/>
              </a:ext>
            </a:extLst>
          </p:cNvPr>
          <p:cNvSpPr txBox="1"/>
          <p:nvPr/>
        </p:nvSpPr>
        <p:spPr>
          <a:xfrm>
            <a:off x="5467865" y="4278526"/>
            <a:ext cx="157548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F5F5F5"/>
                </a:solidFill>
                <a:latin typeface="Times New Roman"/>
                <a:cs typeface="Times New Roman"/>
              </a:rPr>
              <a:t>Date Range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36" y="0"/>
            <a:ext cx="9097664" cy="107133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0706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Walkthrough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EED6C-6F7F-A25B-CA94-BF2A81535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94" y="1093250"/>
            <a:ext cx="9012704" cy="40536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E9D3C-6A45-7314-DB7A-8AB205921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155D4F1D-4F14-4673-6A92-E6D078FEBC0E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F64985-AB51-190D-46A3-30D52ED84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11" y="407605"/>
            <a:ext cx="4332590" cy="216586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A7A31A-0BEA-B89E-D368-6BBCE359A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736" y="407894"/>
            <a:ext cx="4224468" cy="216528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6D7B54-4152-DF1C-C482-CEA4EDA913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409" y="2773072"/>
            <a:ext cx="4332591" cy="182156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A31D0C-FDCE-CE0F-25A6-BED3AFFCE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735" y="2770929"/>
            <a:ext cx="4193575" cy="182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8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512668" y="1819463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5566" y="1913479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"/>
                <a:ea typeface="Calibri" pitchFamily="34" charset="-122"/>
                <a:cs typeface="Times New Roman"/>
              </a:rPr>
              <a:t>Accuracy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11569" y="191347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/>
                <a:ea typeface="Calibri" pitchFamily="34" charset="-122"/>
                <a:cs typeface="Times New Roman"/>
              </a:rPr>
              <a:t>81.2%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12668" y="2450849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5566" y="249657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"/>
                <a:ea typeface="Calibri" pitchFamily="34" charset="-122"/>
                <a:cs typeface="Times New Roman"/>
              </a:rPr>
              <a:t>Precision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11569" y="2496569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/>
                <a:ea typeface="Calibri" pitchFamily="34" charset="-122"/>
                <a:cs typeface="Times New Roman"/>
              </a:rPr>
              <a:t>80.1%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12668" y="3074188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5566" y="3119907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"/>
                <a:ea typeface="Calibri" pitchFamily="34" charset="-122"/>
                <a:cs typeface="Times New Roman"/>
              </a:rPr>
              <a:t>Recall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11569" y="3119907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/>
                <a:ea typeface="Calibri" pitchFamily="34" charset="-122"/>
                <a:cs typeface="Times New Roman"/>
              </a:rPr>
              <a:t>84.6%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12668" y="3657278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5566" y="365470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"/>
                <a:ea typeface="Calibri" pitchFamily="34" charset="-122"/>
                <a:cs typeface="Times New Roman"/>
              </a:rPr>
              <a:t>F1-Score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11569" y="370299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/>
                <a:ea typeface="Calibri" pitchFamily="34" charset="-122"/>
                <a:cs typeface="Times New Roman"/>
              </a:rPr>
              <a:t>0.825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12668" y="4159876"/>
            <a:ext cx="3931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5566" y="4245843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imes New Roman"/>
                <a:ea typeface="Calibri" pitchFamily="34" charset="-122"/>
                <a:cs typeface="Times New Roman"/>
              </a:rPr>
              <a:t>ROC-AUC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11569" y="4245843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/>
                <a:ea typeface="Calibri" pitchFamily="34" charset="-122"/>
                <a:cs typeface="Times New Roman"/>
              </a:rPr>
              <a:t>0.841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734" y="-1932"/>
            <a:ext cx="9090875" cy="975896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950228" y="888964"/>
            <a:ext cx="2672044" cy="7959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ea typeface="Calibri"/>
                <a:cs typeface="Times New Roman"/>
              </a:rPr>
              <a:t>Random Forest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5FE23E-96E7-043F-B588-DC3A1B25F11C}"/>
              </a:ext>
            </a:extLst>
          </p:cNvPr>
          <p:cNvSpPr/>
          <p:nvPr/>
        </p:nvSpPr>
        <p:spPr>
          <a:xfrm>
            <a:off x="0" y="-1"/>
            <a:ext cx="93630" cy="5143501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364B6092-4ADD-D3E2-043A-47884EA3944F}"/>
              </a:ext>
            </a:extLst>
          </p:cNvPr>
          <p:cNvSpPr/>
          <p:nvPr/>
        </p:nvSpPr>
        <p:spPr>
          <a:xfrm>
            <a:off x="2179749" y="262407"/>
            <a:ext cx="6457143" cy="4514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Fraud Risk Detection Model</a:t>
            </a:r>
          </a:p>
        </p:txBody>
      </p:sp>
    </p:spTree>
    <p:extLst>
      <p:ext uri="{BB962C8B-B14F-4D97-AF65-F5344CB8AC3E}">
        <p14:creationId xmlns:p14="http://schemas.microsoft.com/office/powerpoint/2010/main" val="1005252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999" cy="693849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515186" y="137160"/>
            <a:ext cx="51054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Cases &amp;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891540"/>
            <a:ext cx="576072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endParaRPr lang="en-US" sz="1350" dirty="0"/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endParaRPr lang="en-US" sz="1350" dirty="0"/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endParaRPr lang="en-US" sz="1350" dirty="0"/>
          </a:p>
          <a:p>
            <a:pPr>
              <a:spcBef>
                <a:spcPts val="450"/>
              </a:spcBef>
              <a:spcAft>
                <a:spcPts val="450"/>
              </a:spcAft>
              <a:defRPr sz="1800">
                <a:solidFill>
                  <a:srgbClr val="333333"/>
                </a:solidFill>
              </a:defRPr>
            </a:pPr>
            <a:endParaRPr sz="135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6310666-CFAD-730D-D2AE-71C53118BC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11778" y="895405"/>
            <a:ext cx="5712714" cy="399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Duplicate dispute request for same transaction ID</a:t>
            </a:r>
            <a:b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Check existing records before insert, block duplicates 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Incomplete data</a:t>
            </a:r>
            <a:b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Validate required fields, show error message 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Negative or zero transaction amount</a:t>
            </a:r>
            <a:b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Apply validation rule (amount &gt; 0), reject input 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Null values in fields</a:t>
            </a:r>
            <a:b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Use NOT NULL constraints, handle with default values 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Wrong date format</a:t>
            </a:r>
            <a:b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Validate date format, convert or reject invalid input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Timeout during processing</a:t>
            </a:r>
            <a:b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Set timeout limit, retry request or show “Try again” message 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273F53A-09E8-023A-47C9-1BF5AB7EB1B2}"/>
              </a:ext>
            </a:extLst>
          </p:cNvPr>
          <p:cNvSpPr/>
          <p:nvPr/>
        </p:nvSpPr>
        <p:spPr>
          <a:xfrm>
            <a:off x="1" y="-1"/>
            <a:ext cx="109728" cy="5143501"/>
          </a:xfrm>
          <a:prstGeom prst="rect">
            <a:avLst/>
          </a:prstGeom>
          <a:solidFill>
            <a:srgbClr val="0070C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51723" cy="70896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510035" y="137160"/>
            <a:ext cx="54308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&amp; Resolutions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988" y="1126734"/>
            <a:ext cx="5760720" cy="324960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project architecture design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Broke system into layers (UI, backend, database)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sz="1500" dirty="0">
                <a:latin typeface="Times New Roman"/>
                <a:cs typeface="Times New Roman"/>
              </a:rPr>
              <a:t>Working with external API (LLM integration)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>
                <a:latin typeface="Times New Roman"/>
                <a:cs typeface="Times New Roman"/>
              </a:rPr>
              <a:t>→ Studied API usage and tested with sample requests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smooth user navigation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Organized pages and added proper menu options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real-world dispute process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Studied banking workflow and designed system accordingly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user input to correct transaction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Implemented proper linking using transaction ID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1EE1CB5A-D9EB-2585-D297-E488D454861C}"/>
              </a:ext>
            </a:extLst>
          </p:cNvPr>
          <p:cNvSpPr/>
          <p:nvPr/>
        </p:nvSpPr>
        <p:spPr>
          <a:xfrm>
            <a:off x="1" y="-2829"/>
            <a:ext cx="102006" cy="5154378"/>
          </a:xfrm>
          <a:prstGeom prst="rect">
            <a:avLst/>
          </a:prstGeom>
          <a:solidFill>
            <a:srgbClr val="0070C0"/>
          </a:solidFill>
          <a:ln/>
        </p:spPr>
      </p:sp>
    </p:spTree>
    <p:extLst>
      <p:ext uri="{BB962C8B-B14F-4D97-AF65-F5344CB8AC3E}">
        <p14:creationId xmlns:p14="http://schemas.microsoft.com/office/powerpoint/2010/main" val="2840743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Key Learnings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2506" y="138303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Technical Expertise Gained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0035" y="211702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ML pipelines with scikit-learn integration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0035" y="2836185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NLP with spaCy for entity recognition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0035" y="3563997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Fraud detection and risk scoring patterns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57980" y="1384575"/>
            <a:ext cx="24101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/>
                <a:ea typeface="Calibri" pitchFamily="34" charset="-122"/>
                <a:cs typeface="Times New Roman"/>
              </a:rPr>
              <a:t>System Design Insights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6778" y="2110843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C3E50"/>
                </a:solidFill>
                <a:latin typeface="Times New Roman"/>
                <a:ea typeface="Calibri"/>
                <a:cs typeface="Times New Roman"/>
              </a:rPr>
              <a:t>• Integration of multiple AI/ML techniques 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6778" y="2837730"/>
            <a:ext cx="4134880" cy="4494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2C3E50"/>
                </a:solidFill>
                <a:latin typeface="Times New Roman"/>
                <a:ea typeface="Calibri"/>
                <a:cs typeface="Times New Roman"/>
              </a:rPr>
              <a:t>• Importance of data quality foundation for </a:t>
            </a:r>
            <a:r>
              <a:rPr lang="en-US" sz="1400">
                <a:solidFill>
                  <a:srgbClr val="2C3E50"/>
                </a:solidFill>
                <a:latin typeface="Times New Roman"/>
                <a:ea typeface="Calibri"/>
                <a:cs typeface="Times New Roman"/>
              </a:rPr>
              <a:t>accuracy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6778" y="3572339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Times New Roman"/>
                <a:ea typeface="Calibri" pitchFamily="34" charset="-122"/>
                <a:cs typeface="Times New Roman"/>
              </a:rPr>
              <a:t>• End-to-end system thinking vs. isolated models</a:t>
            </a:r>
            <a:endParaRPr lang="en-US"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170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605797" y="153160"/>
            <a:ext cx="396392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67BC9-7605-E93C-4912-B7AF140A180E}"/>
              </a:ext>
            </a:extLst>
          </p:cNvPr>
          <p:cNvSpPr txBox="1"/>
          <p:nvPr/>
        </p:nvSpPr>
        <p:spPr>
          <a:xfrm>
            <a:off x="713918" y="1285168"/>
            <a:ext cx="4769739" cy="3316292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/>
                <a:cs typeface="Times New Roman"/>
              </a:rPr>
              <a:t>Integrate with cloud services for scalability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500" dirty="0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r>
              <a:rPr lang="en-US" sz="1500">
                <a:latin typeface="Times New Roman"/>
                <a:cs typeface="Times New Roman"/>
              </a:rPr>
              <a:t>Add  security features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500" dirty="0">
              <a:latin typeface="Times New Roman"/>
              <a:cs typeface="Times New Roman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/>
                <a:cs typeface="Times New Roman"/>
              </a:rPr>
              <a:t>multiple languages for complaint analysis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IN" sz="1500" dirty="0">
              <a:latin typeface="Times New Roman"/>
              <a:cs typeface="Times New Roman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/>
                <a:cs typeface="Times New Roman"/>
              </a:rPr>
              <a:t>Add voice input for complaints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500" dirty="0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r>
              <a:rPr lang="en-US" sz="1500">
                <a:latin typeface="Times New Roman"/>
                <a:cs typeface="Times New Roman"/>
              </a:rPr>
              <a:t>Enable mobile app version of the system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sz="16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Advanced fraud pattern detection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500" dirty="0">
              <a:latin typeface="Times New Roman"/>
              <a:cs typeface="Times New Roman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500" dirty="0">
              <a:latin typeface="Times New Roman"/>
              <a:cs typeface="Times New Roman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500" dirty="0">
              <a:latin typeface="Times New Roman"/>
              <a:cs typeface="Times New Roman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7DD3B3A8-6A4F-FC47-8533-032C68FA9FE6}"/>
              </a:ext>
            </a:extLst>
          </p:cNvPr>
          <p:cNvSpPr/>
          <p:nvPr/>
        </p:nvSpPr>
        <p:spPr>
          <a:xfrm>
            <a:off x="1" y="823528"/>
            <a:ext cx="132896" cy="4328021"/>
          </a:xfrm>
          <a:prstGeom prst="rect">
            <a:avLst/>
          </a:prstGeom>
          <a:solidFill>
            <a:srgbClr val="0070C0"/>
          </a:solidFill>
          <a:ln/>
        </p:spPr>
      </p:sp>
    </p:spTree>
    <p:extLst>
      <p:ext uri="{BB962C8B-B14F-4D97-AF65-F5344CB8AC3E}">
        <p14:creationId xmlns:p14="http://schemas.microsoft.com/office/powerpoint/2010/main" val="453424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Transforming Dispute Resolution Through AI</a:t>
            </a:r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i="1">
                <a:solidFill>
                  <a:srgbClr val="00A8E8"/>
                </a:solidFill>
                <a:latin typeface="Times New Roman"/>
                <a:ea typeface="Calibri"/>
                <a:cs typeface="Times New Roman"/>
              </a:rPr>
              <a:t>Faster • Smarter • User Friendly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65F78A6-954F-A184-A82E-51AAD98CD23A}"/>
              </a:ext>
            </a:extLst>
          </p:cNvPr>
          <p:cNvSpPr/>
          <p:nvPr/>
        </p:nvSpPr>
        <p:spPr>
          <a:xfrm>
            <a:off x="457200" y="4231262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Payment Dispute Resolution System</dc:title>
  <dc:subject>PptxGenJS Presentation</dc:subject>
  <dc:creator>Shikha Badal</dc:creator>
  <cp:lastModifiedBy>Shikha Badal</cp:lastModifiedBy>
  <cp:revision>392</cp:revision>
  <dcterms:created xsi:type="dcterms:W3CDTF">2026-04-01T04:58:51Z</dcterms:created>
  <dcterms:modified xsi:type="dcterms:W3CDTF">2026-04-01T10:27:18Z</dcterms:modified>
</cp:coreProperties>
</file>